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11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11111"/>
                </a:solidFill>
                <a:latin typeface="Arial"/>
              </a:rPr>
              <a:t>Repartition des 297 indicateurs cibles (sur 832 au total)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Indicateurs par theme cible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Economie</c:v>
                  </c:pt>
                  <c:pt idx="1">
                    <c:v>Population &amp;
demographie</c:v>
                  </c:pt>
                  <c:pt idx="2">
                    <c:v>Marche
du travail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216</c:v>
                </c:pt>
                <c:pt idx="1">
                  <c:v>49</c:v>
                </c:pt>
                <c:pt idx="2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11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11111"/>
                </a:solidFill>
                <a:latin typeface="Arial"/>
              </a:rPr>
              <a:t>Croissance de la suite de tests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unitaires passants</c:v>
                </c:pt>
              </c:strCache>
            </c:strRef>
          </c:tx>
          <c:spPr>
            <a:solidFill>
              <a:srgbClr val="1565C0"/>
            </a:solidFill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65C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Sprint 1</c:v>
                  </c:pt>
                  <c:pt idx="1">
                    <c:v>API BDS</c:v>
                  </c:pt>
                  <c:pt idx="2">
                    <c:v>Bug fix</c:v>
                  </c:pt>
                  <c:pt idx="3">
                    <c:v>Detection
PDF/XLSX</c:v>
                  </c:pt>
                  <c:pt idx="4">
                    <c:v>DOCX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9</c:v>
                </c:pt>
                <c:pt idx="2">
                  <c:v>10</c:v>
                </c:pt>
                <c:pt idx="3">
                  <c:v>12</c:v>
                </c:pt>
                <c:pt idx="4">
                  <c:v>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565C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4114800" cy="4114800"/>
          </a:xfrm>
          <a:prstGeom prst="ellipse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HCP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documentaire fonde sur les publications officielles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Haut-Commissariat au 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— Direction des Systemes d'Information Statistiques (DSIS)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Ayman El Baida  &amp;  Saad Mesbah   |   1 juillet – 31 aout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d'avancement — reunion avec l'encadrante — 17 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clip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554480" y="1600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objectifs et problematique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554480" y="2514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decisions structurantes (ADR)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33832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55448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Cadrage, conception, premier scraper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42976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554480" y="4343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Pipeline d'ingestion (API BDS, PDF, DOCX)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5212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554480" y="5257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chiffre et prochaines etapes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bulls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stage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6949440" cy="4754880"/>
          </a:xfrm>
          <a:prstGeom prst="roundRect">
            <a:avLst>
              <a:gd name="adj" fmla="val 153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691640"/>
            <a:ext cx="64008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Haut-Commissariat au Plan (HCP)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1800"/>
              </a:spcAft>
              <a:buNone/>
            </a:pPr>
            <a:r>
              <a:rPr lang="en-US" sz="14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officiel de la statistique au Maroc — producteur de reference des indicateurs economiques, demographiques et sociaux du pays.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stage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1800"/>
              </a:spcAft>
              <a:buNone/>
            </a:pPr>
            <a:r>
              <a:rPr lang="en-US" sz="14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des Systemes d'Information Statistiques (DSIS) — 1er juillet au 31 aout 2026, en binome avec Saad Mesbah.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prototyper un chatbot RAG capable de repondre a des questions sur les publications du site hcp.ma, avec sourcage systematique.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5528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mois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95528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du stage (juil.–aout 2026)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0" y="2880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95528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stagiaires en binome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55280" y="4023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hcp.ma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955280" y="4709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unique de donnees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warnin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Problematique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d'un RAG classique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1488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institut statistique officiel ne peut pas se permettre un chiffre invente ou approximatif.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recherche par similarite vectorielle peut renvoyer un chiffre 'plausible' mais faux — inacceptable pour des donnees officielles.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hcp.ma melange contenu textuel (articles, methodologie) et donnees chiffrees officielles (indicateurs, series).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41732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reponse architecturale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21488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Separer strictement, des l'ingestion, le texte narratif et les indicateurs chiffres.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suit un pipeline RAG classique (recherche approximative acceptable).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indicateurs sont extraits une fois, stockes en table structuree, et recuperes par requete exacte — jamais par similarite.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sitem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fondatrice — ADR 0001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stricte texte narratif / indicateurs chiffres, des l'ingestion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892040" y="20116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374904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narratif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434340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(BGE-M3)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hybride vectorielle + BM25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49440" y="374904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2376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chiffres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23760" y="434340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structuree (SQLite)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Requete exacte, jamais approximative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 + source garanties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'Non disponible' plutot qu'invente (F4)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0" y="2926080"/>
            <a:ext cx="-2651760" cy="77724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080760" y="2926080"/>
            <a:ext cx="3017520" cy="77724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 — ADR 0002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4630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606040" y="14630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BeautifulSoup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4630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46520" y="146304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PDF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75320" y="14630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(+ pymupdf en repli)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33172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23317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606040" y="23317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— BGE-M3 (multilingue)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233172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46520" y="23317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vectoriel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75320" y="23317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(local)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2004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7240" y="32004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lexicale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606040" y="32004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17920" y="320040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446520" y="320040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indicateurs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75320" y="32004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06908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77240" y="40690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606040" y="40690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4E0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ouvert : le LLM de generation n'est pas encore tranche — depend de la politique de securite des donnees du HCP (API externe autorisee, ou solution hebergee en interne).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calend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en 5 sprints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029968" cy="3108960"/>
          </a:xfrm>
          <a:prstGeom prst="roundRect">
            <a:avLst>
              <a:gd name="adj" fmla="val 3604"/>
            </a:avLst>
          </a:prstGeom>
          <a:solidFill>
            <a:srgbClr val="D7E8D8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22860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6517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7–13 juil.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30632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Cadrage, conception, premiers scripts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489204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07208" y="2103120"/>
            <a:ext cx="2029968" cy="3108960"/>
          </a:xfrm>
          <a:prstGeom prst="roundRect">
            <a:avLst>
              <a:gd name="adj" fmla="val 3604"/>
            </a:avLst>
          </a:prstGeom>
          <a:solidFill>
            <a:srgbClr val="1565C0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944368" y="22860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944368" y="26517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7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14–20 juil.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44368" y="30632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d'ingestion complet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944368" y="489204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65776" y="2103120"/>
            <a:ext cx="2029968" cy="3108960"/>
          </a:xfrm>
          <a:prstGeom prst="roundRect">
            <a:avLst>
              <a:gd name="adj" fmla="val 360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02936" y="22860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02936" y="26517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21–27 juil.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202936" y="30632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generation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324344" y="2103120"/>
            <a:ext cx="2029968" cy="3108960"/>
          </a:xfrm>
          <a:prstGeom prst="roundRect">
            <a:avLst>
              <a:gd name="adj" fmla="val 360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461504" y="22860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61504" y="26517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juil.–3 aout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461504" y="30632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+ evaluation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582912" y="2103120"/>
            <a:ext cx="2029968" cy="3108960"/>
          </a:xfrm>
          <a:prstGeom prst="roundRect">
            <a:avLst>
              <a:gd name="adj" fmla="val 360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720072" y="228600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720072" y="26517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aout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720072" y="306324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clip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— Cadrage &amp; conception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65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cadrage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Nature, perimetre, problematique, objectifs, besoins, risques, planning, glossaire — document LaTeX complet.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5112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53712" y="1965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conception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53712" y="260604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diagrammes UML/Merise : cas d'utilisation, MCD, MLD, classes, 2 sequences, activite.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01584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30184" y="1965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Squelette du repo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30184" y="260604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code, schema SQL, premier scraper fonctionnel, tests de base (6 tests).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 — Premier test reel du scraper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URLs reelles (Economie, Marche du travail, Population &amp; demographie) — test sur data/seed_urls.py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27/27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recuperees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27/27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29768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corrects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27/27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777240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trouvees (apres correction)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echecs de date corriges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43434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de certaines pages est encode en Unicode decompose (un accent = un caractere separe), ce qui cassait la regex de recherche de date ('Redige le ...'). Corrige en normalisant le texte en NFC avant l'extraction — voir exemple concret page suivante.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bu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concret — bug d'encodage Unicode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B1B1B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6276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echoue sur 2/27 pages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956816"/>
            <a:ext cx="48920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 = soup.get_text(" ", strip=True)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re.search(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r"R[ée]dig[ée] le (...)",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'é' decompose (e + accent combinant)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 matche pas '[ée]' -&gt; date perdue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B1B1B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6276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— 27/27 pages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1956816"/>
            <a:ext cx="48920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texte = unicodedata.normalize(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"NFC",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soup.get_text(" ", strip=True),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re.search(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r"R[ée]dig[ée] le (...)",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Decouverte cle — le HTML ne suffit pas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 de texte propre extrait sur les 27 pages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du pipeline complet (Scraper + Extracteur) sur les 27 pages : les 'tableaux' trouves etaient en fait des menus de navigation.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HTML hcp.ma ne portent qu'un resume de quelques phrases — jamais les donnees detaillees.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vraies donnees (tableaux complets, series chiffrees, rapports integraux) sont dans des fichiers PDF/XLSX telecharges depuis ces pages.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1554480"/>
            <a:ext cx="5029200" cy="4663440"/>
          </a:xfrm>
          <a:prstGeom prst="roundRect">
            <a:avLst>
              <a:gd name="adj" fmla="val 1569"/>
            </a:avLst>
          </a:prstGeom>
          <a:solidFill>
            <a:srgbClr val="111111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ADR 0003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0" y="224028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avec Ayman : le RAG s'appuie uniquement sur les publications PDF/XLSX (puis DOCX, ADR 0005) de hcp.ma. Le HTML n'est jamais indexe — il sert seulement a decouvrir les liens de telechargement et a fournir titre/date.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— Decouverte de l'API BDS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bds.hcp.ma possede sa propre API, non documentee publiquement mais librement accessible (sans authentification) — decouverte en inspectant le trafic reseau du site.</a:t>
            </a:r>
            <a:endParaRPr lang="en-US" sz="13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37744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406640" y="1417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832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740664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au catalogue complet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406640" y="2514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7406640" y="3200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: /subject-groups (catalogue) et /indicators/{code} (serie complete)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406640" y="3657600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635240" y="38404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 manuellement sur 2 codes reels (I3181, I2818) avant toute integration au code.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concret — vraie reponse de l'API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https://bds.hcp.ma/api/v1/indicators/I3181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10881360" cy="4206240"/>
          </a:xfrm>
          <a:prstGeom prst="roundRect">
            <a:avLst>
              <a:gd name="adj" fmla="val 1739"/>
            </a:avLst>
          </a:prstGeom>
          <a:solidFill>
            <a:srgbClr val="1B1B1B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901952"/>
            <a:ext cx="1042416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"iid": 3181, "code": "I3181",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"label": "Valeurs ajoutees par branche d'activite",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"periods": ["2007T1", "2007T2", ..., "2021T4"],   // 60 periodes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"dimensions": [{"id": 12, "modalites": [{"id": 1, "label": "Agriculture"}, ...]}],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"1_2007T1": {"value": "18432", "footNote": null},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"1_2007T2": {"value": "18901", "footNote": null},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// cle = "{idModalite}_{periode}" — forme non documentee,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// decouverte en interrogeant l'API en direct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reelle — src/bds_client.py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le 16 juillet 2026 sur la machine d'Ayman (le sandbox de developpement n'a pas d'acces reseau vers hcp.ma).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832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telecharges — repartition identique a celle vue dans le navigateur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80560" y="2103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480560" y="2788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periodes recuperees pour I3181 (T1 2007 -&gt; T4 2021)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38160" y="2103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13816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et modalites de ventilation correctes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D7E8D8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93192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4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src/bds_client.py est valide de bout en bout en conditions reelles. Tache correspondante cochee dans TODO.md (Sprint 2).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bu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reel trouve &amp; corrige — dimensions=null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scripts/preremplir_indicateurs_bds.py sur les 18 codes cures : succes sur I1588/I1590, puis crash sur I2790 ('Taux d'urbanisation').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B1B1B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9933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TypeError: 'NoneType' object is not iterable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322576"/>
            <a:ext cx="489204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dimension in 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indicateur_json.get("dimensions", [])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L'API renvoie dimensions: null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(pas absent) -&gt; .get(cle, defaut)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 rattrape QUE la cle absente,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 la valeur null presente.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B1B1B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99339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— 18/18 codes, 0 echec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2322576"/>
            <a:ext cx="489204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dimension in 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indicateur_json.get("dimensions") or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Meme motif applique a tous les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.get(...) a risque (metaData,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modalites, data) + test 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regression dedie ajoute.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complete — 18 indicateurs cures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cures — 6 par categorie ciblee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0" y="1645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35 561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48056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d'indicateurs construites au total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1645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18/18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13816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 — 0 echec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10881360" cy="2743200"/>
          </a:xfrm>
          <a:prstGeom prst="roundRect">
            <a:avLst>
              <a:gd name="adj" fmla="val 266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329184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 lignes (I2790, Taux d'urbanisation) a 24 696 lignes (I3981, Indice des prix a la consommation, detaille par produit et par mois).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indicateurs Population &amp; demographie, 6 Economie, 6 Marche du travail (taux de chomage, taux net d'activite, taux d'emploi...).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ConstructeurIndicateurs valide en conditions reelles sur l'integralite de la liste curee, pas seulement sur un exemple isole.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 hybride cache-aside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garder les indicateurs a jour sans payer le cout d'un appel API a chaque question ? (ADR 0004, precise le 15 juillet)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31520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Pre-remplissage nocturne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37490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planifie appelle l'API pour la liste curee d'indicateurs et remplit la table locale.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83280" y="210312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6616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66160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en direct si absent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566160" y="37490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question porte sur un indicateur hors cache, recherche du code le plus probable dans le catalogue.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210312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00800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API + enrichissement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00800" y="37490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resultat est retourne a l'utilisateur ET ecrit dans la table locale — le cache s'enrichit avec l'usage.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052560" y="210312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E8E0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23544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235440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Echec explicite (F4)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9235440" y="37490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l'indicateur reste introuvable : reponse 'donnee non disponible', jamais de valeur inventee.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mythe de la sur-detection, verifie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avait souleve un doute : le Scraper detecte-t-il des pieces jointes qui n'existent pas ? Teste en reel avant d'y toucher.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hcp.ma reelles reconstruites (conjoncture, enquete, RGPH regional, emploi)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8056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338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48056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&lt;a&gt; testes au total (menus, reseaux sociaux, pied de page inclus)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38160" y="2103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13816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 / faux negatif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D7E8D8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40233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4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 de sur-detection non confirmee. Aucune correction de code necessaire — verrouille par 2 tests de regression avec fixtures reconstruites depuis le vrai HTML.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pdf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PDF validee en reel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33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PDF valides traites sans erreur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0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645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480560" y="2240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extraits par fichier selon le document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13816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perimes nettoyes de data/raw/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10881360" cy="2834640"/>
          </a:xfrm>
          <a:prstGeom prst="roundRect">
            <a:avLst>
              <a:gd name="adj" fmla="val 2581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3200400"/>
            <a:ext cx="10332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14 fichiers perimes etaient en realite des .docx sauvegardes sous une fausse extension .pdf, telecharges avant le fix de validation du 15 juillet — confirmes 'stale' par horodatage git, pas juste supposes.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gros PDF tres denses en tableaux ('Tabulations', ~4,3 Mo) n'ont pas fini l'extraction en moins de 40s dans le sandbox — a chronometrer sans cette contrainte.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fichier de 14 Mo pas encore teste, faute de temps.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docx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Decouverte DOCX — un trou dans le perimetre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6309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cherchant un exemple de vrai .xlsx a tester, decouverte que les notes mensuelles IPC et IPPI (categorie Economie) ne sont publiees qu'en .docx (FR+AR), sans alternative PDF ni Excel.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 0003 limitait explicitement le perimetre a 'PDF/XLSX uniquement'.</a:t>
            </a:r>
            <a:endParaRPr lang="en-US" sz="14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avant correction : le lien est detecte mais rejete par la validation des nombres magiques — 0 contenu indexe pour des publications pourtant mensuelles et pertinentes.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086600" y="1417320"/>
            <a:ext cx="4526280" cy="3017520"/>
          </a:xfrm>
          <a:prstGeom prst="roundRect">
            <a:avLst>
              <a:gd name="adj" fmla="val 2424"/>
            </a:avLst>
          </a:prstGeom>
          <a:solidFill>
            <a:srgbClr val="1B1B1B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0" y="15819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IPC — Mai 2026 (hcp.ma)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0" y="1911096"/>
            <a:ext cx="406908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Telecharger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IPC_Mai 2026_Fr.docx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B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https://www.hcp.ma/attachment/2885946/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(71.33 Ko)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pas de version PDF ni XLSX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86600" y="4572000"/>
            <a:ext cx="4526280" cy="1371600"/>
          </a:xfrm>
          <a:prstGeom prst="roundRect">
            <a:avLst>
              <a:gd name="adj" fmla="val 5333"/>
            </a:avLst>
          </a:prstGeom>
          <a:solidFill>
            <a:srgbClr val="FFF4E0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0" y="45720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posee explicitement a Ayman plutot que decidee seule (voir slide suivante).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docx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ADR 0005 — etendre au DOCX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10312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Etendre le perimetre au DOCX plutot qu'accepter le trou : IPC/IPPI sont recurrentes et pertinentes pour les utilisateurs.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principe que PDF/XLSX : on s'appuie sur le document telecharge, jamais sur le HTML de la page.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80760" y="141732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550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210312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: detection/telechargement/validation des .docx (meme schema que PDF/XLSX).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delicat : XLSX et DOCX sont tous deux des ZIP (signature PK identique) -&gt; validation renforcee par dossier interne (xl/ vs word/).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Extracteur._extraire_docx (python-docx) : paragraphes + tableaux.</a:t>
            </a:r>
            <a:endParaRPr lang="en-US" sz="13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nouveaux tests -&gt; suite complete 16/16.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clipbo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 de travail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645920"/>
            <a:ext cx="4572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ADR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documentant chaque decision structurante (contexte, decision, justification, consequences).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JOURNAL.md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tenu a jour quotidiennement — preuve datee du travail reel effectue.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TODO.md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structure en 5 sprints avec 'definition of done' explicite.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git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petits, descriptifs, en francais, un par changement logique.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080760" y="1417320"/>
          <a:ext cx="5349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chiffre — a date du 17 juillet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1783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API cartographies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0" y="1783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474720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dans le perimetre cible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35040" y="1554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1783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35 561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217920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cures / lignes construites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778240" y="1554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961120" y="1783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/ 27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961120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hcp.ma scrapees avec succes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" y="4069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33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31520" y="4892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reels valides sans erreur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291840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74720" y="4069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3474720" y="4892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passants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35040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217920" y="4069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217920" y="4892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— decisions d'architecture documentees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778240" y="38404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961120" y="4069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8961120" y="4892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reels trouves et corriges en conditions reelles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r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reste a faire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clore le Sprint 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10312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reelle du DOCX (script pret, execution en cours — resultat a la fin de cette reunion).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_extraire_xlsx jamais teste en reel : aucun exemplaire de .xlsx trouve a ce jour sur les pages seed.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+ embeddings (IndexeurTexte.indexer), en filtrant explicitement le HTML.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ChromaDB + BM25.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d'insertion en base (indicateurs BDS + PDF/XLSX/DOCX).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141732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E8F0FC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550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suivants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210312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: recherche hybride + reranking, routeur de question, generation avec grounding strict.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: interface Streamlit, jeu de test 30-50 questions, mesure de fiabilite (objectif : &gt;= 90% d'exactitude sur les questions chiffrees).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: finalisation, documentation, rapport de stage, demonstration.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4" name="Image 0" descr="icons/questio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384048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ouverts pour l'encadrante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LLM de generation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0" y="1554480"/>
            <a:ext cx="6720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externe autorisee, ou solution hebergee en interne ? Point bloquant avant le Sprint 3 (retrieval + generation).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2743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Perimetre etendu au DOCX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0" y="2743200"/>
            <a:ext cx="6720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deja prise avec Ayman (ADR 0005) — a valider cote encadrement.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931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39319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l'arabe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0" y="3931920"/>
            <a:ext cx="6720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Volontairement hors scope V1 (fiche de cadrage, section 11) — a confirmer que ce choix tient.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  <a:effectLst>
            <a:outerShdw sx="100000" sy="100000" kx="0" ky="0" algn="bl" rotWithShape="0" blurRad="76200" dist="25400" dir="5400000">
              <a:srgbClr val="888888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2960" y="51206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cache-aside pour la BDS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0" y="5120640"/>
            <a:ext cx="6720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Pre-remplissage nocturne + appel direct en repli — a valider avant de brancher LookupStructure dessus.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4480560"/>
            <a:ext cx="4754880" cy="4754880"/>
          </a:xfrm>
          <a:prstGeom prst="ellipse">
            <a:avLst/>
          </a:prstGeom>
          <a:solidFill>
            <a:srgbClr val="1565C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463040"/>
            <a:ext cx="4114800" cy="4114800"/>
          </a:xfrm>
          <a:prstGeom prst="ellipse">
            <a:avLst/>
          </a:prstGeom>
          <a:solidFill>
            <a:srgbClr val="1565C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 retours bienvenus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Ayman El Baida  &amp;  Saad Mesbah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tenmalavan@gmail.com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2026-07-17T01:37:49Z</dcterms:created>
  <dcterms:modified xsi:type="dcterms:W3CDTF">2026-07-17T01:37:49Z</dcterms:modified>
</cp:coreProperties>
</file>